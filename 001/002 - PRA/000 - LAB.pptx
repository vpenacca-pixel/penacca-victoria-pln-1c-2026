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46507b4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46507b4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46507b4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46507b4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46507b44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46507b44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358b576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358b57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4358b57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4358b57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4358b57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4358b57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358b576e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358b576e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46507b44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46507b44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358b576e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4358b576e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4358b576e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4358b576e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3be5b8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3be5b8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3be5b8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63be5b8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3be5b8a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63be5b8a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4358b576e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4358b576e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4358b576e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4358b576e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358b576e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4358b576e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3be5b8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63be5b8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ejemplo.com/robots.tx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13" y="16640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Técnicas</a:t>
            </a:r>
            <a:r>
              <a:rPr lang="es" sz="3800"/>
              <a:t> de Procesamiento del Habla</a:t>
            </a:r>
            <a:endParaRPr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25" y="2494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2180"/>
              <a:t>Extracción, Procesamiento y Visualización de Datos Web</a:t>
            </a:r>
            <a:endParaRPr sz="218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4175" y="3230850"/>
            <a:ext cx="1435675" cy="17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Web Scraping?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el corazón de todo proyecto de NLP y Deep Learning están los datos. Los modelos necesitan grandes cantidades de datos para aprender y realizar tareas complejas. Pero ¿de dónde obtenemos </a:t>
            </a:r>
            <a:r>
              <a:rPr lang="es"/>
              <a:t>estos</a:t>
            </a:r>
            <a:r>
              <a:rPr lang="es"/>
              <a:t> datos?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muchos casos, los datos que necesitamos no están disponibles en formatos estructurados (como archivos CSV o bases de datos). En cambio, están esparcidos por la web en forma de páginas HTML.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 Scraping como herramienta para la extracción de datos: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i="1" lang="es"/>
              <a:t>El web scraping es la técnica de extraer información de sitios web de forma automatizada.</a:t>
            </a:r>
            <a:r>
              <a:rPr lang="es"/>
              <a:t> Nos permite convertir la vasta cantidad de datos no estructurados en la web en un formato que nuestros algoritmos de NLP y Deep Learning puedan comprender y utilizar.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aplicaciones reales: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</a:t>
            </a:r>
            <a:r>
              <a:rPr lang="es"/>
              <a:t>nalizar el sentimiento de los comentarios de clientes sobre un producto. ¿Cómo obtendrían esos datos…? Web scraping.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un sistema para resumir noticias automáticamente ¿De dónde sacarían el texto de las noticias? Web scraping.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</a:t>
            </a:r>
            <a:r>
              <a:rPr lang="es"/>
              <a:t>onstruir una base de datos con información de productos de la competencia para análisis de precios ¿Cómo lo harían? Web scraping.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Buenas Prácticas y Cumplimiento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384200"/>
            <a:ext cx="8520600" cy="26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Respetar robots.txt y Términos de Servicio.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Evitar extraer PII sin consentimiento legal.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Rate limiting, backoff, caché; no sobrecargar sitios.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Preferir APIs si existen.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Documentar orígenes, timestamps y licencias.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 Clave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343100"/>
            <a:ext cx="8520600" cy="24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</a:t>
            </a:r>
            <a:r>
              <a:rPr lang="es"/>
              <a:t>TTP: Requests/HTTPX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Parsing: BeautifulSoup (bs4), selectores CSS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Dinámico: Playwright/Selenium (renderizado y scraping avanzado)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Extracción de “artículo”: trafilatura/readability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Estructuración: Pandas (DataFrames)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NLP &amp; Limpieza: NLTK (Stopwords) y Expresiones Regulares (Regex)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Visualización &amp; Deploy: Seaborn, Matplotlib y Gradio (para el Dashboard final).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Patrón Básico de Scraping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29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Identificar URL y estructura.</a:t>
            </a:r>
            <a:endParaRPr sz="1620"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Descargar HTML (con headers/User-Agent).</a:t>
            </a:r>
            <a:endParaRPr sz="1620"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Parsear y seleccionar elementos con selectors CSS.</a:t>
            </a:r>
            <a:endParaRPr sz="1620"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Limpiar texto.</a:t>
            </a:r>
            <a:endParaRPr sz="1620"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Serializar a JSON/CSV.</a:t>
            </a:r>
            <a:endParaRPr sz="1620"/>
          </a:p>
          <a:p>
            <a:pPr indent="-331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Caché y logs de acceso.</a:t>
            </a:r>
            <a:endParaRPr sz="16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Patrón para Sitios Dinámicos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3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Esperar selectores clave tras carga JS.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Paginación, scroll infinito, manejar sesión/cookies.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Captura y manejo de errores.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Escudos Modernos (WAF y TLS Fingerprint): Muchos portales bloquean automáticamente la librería genérica requests. Simular una identidad requiere herramientas de renderizado completo (Browser Automation).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91"/>
              <a:t>NOTA: Entorno de Ejecución (El conflicto Jupyter): Los cuadernos de Jupyter corren un bucle asíncrono permanente (asyncio). Implementar Playwright aquí nos obligará a empaquetar nuestro código en scripts externos (vía %%writefile) y ejecutarlos por consola.</a:t>
            </a:r>
            <a:endParaRPr sz="119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10169"/>
          <a:stretch/>
        </p:blipFill>
        <p:spPr>
          <a:xfrm>
            <a:off x="152400" y="1918826"/>
            <a:ext cx="8839201" cy="14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Glosario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Términos Clave para Web Scraping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DOM </a:t>
            </a:r>
            <a:endParaRPr sz="2480"/>
          </a:p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79"/>
              <a:t>(Document Object Model)</a:t>
            </a:r>
            <a:endParaRPr sz="1879"/>
          </a:p>
        </p:txBody>
      </p:sp>
      <p:sp>
        <p:nvSpPr>
          <p:cNvPr id="115" name="Google Shape;11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 la arquitectura estructural de una página web; un árbol jerárquico donde cada etiqueta HTML es un «nodo» relacionable e independiente.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usar herramientas de Scraping, no rastreamos palabras sueltas al azar, navegamos matricialmente de nodo a nodo (ej: desde un &lt;div&gt; hacia un &lt;h2&gt;).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Su correcta interpretación nos permite programar las extracciones de manera determinista y predecible.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Headless Browser </a:t>
            </a:r>
            <a:endParaRPr/>
          </a:p>
        </p:txBody>
      </p:sp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(Navegador Invisible)</a:t>
            </a:r>
            <a:endParaRPr/>
          </a:p>
        </p:txBody>
      </p:sp>
      <p:sp>
        <p:nvSpPr>
          <p:cNvPr id="122" name="Google Shape;122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Instancia completa del motor de Chromium/Webkit, controlable por código, pero libre de interfaz visual gráfica (GUI).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El motor "Headless" procesa la página silenciosamente en la memoria de tu computadora, multiplicando el rendimiento y bajando el consumo de memoria RAM frente al modo tradicional ("Headed").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Cleansing y Stopwords</a:t>
            </a:r>
            <a:endParaRPr/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Antes de someter textos al modelo analítico (WordClouds, gráficos), resulta indispensable someterlos a un riguroso proceso de «limpieza».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Filtramos las Stopwords (Palabras Vacías: «el», «con», «para») que dominan el español y aplicamos Expresiones Regulares (Regex) para exterminar comas, puntos y símbolos que contaminan nuestro Corpus.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WAF </a:t>
            </a:r>
            <a:endParaRPr/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(Web Application Firewall)</a:t>
            </a:r>
            <a:endParaRPr/>
          </a:p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"Escudos" de seguridad corporativa (como Cloudflare) diseñados para identificar y expulsar a los bots extractivos en milisegundos.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Obligan al desarrollador a elevar la vara pasando de requests a Playwright, ya que validan las huellas digitales cifradas (TLS) e inyectan desafíos matemáticos de JavaScript al vuelo.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Timestamps </a:t>
            </a:r>
            <a:endParaRPr/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(marcas de tiempo)</a:t>
            </a:r>
            <a:endParaRPr/>
          </a:p>
        </p:txBody>
      </p:sp>
      <p:sp>
        <p:nvSpPr>
          <p:cNvPr id="143" name="Google Shape;143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Registro de la fecha y hora exacta en que se obtiene un dato o se ejecuta un proceso.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Ej: 2025-08-12 15:30:00 (GMT-3).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Facilitan trazabilidad, replicar procesos y controlar actualizaciones.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Backoff </a:t>
            </a:r>
            <a:endParaRPr/>
          </a:p>
        </p:txBody>
      </p:sp>
      <p:sp>
        <p:nvSpPr>
          <p:cNvPr id="149" name="Google Shape;149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(espera adaptativa)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Estrategia para espaciar los intentos tras un fallo o rechazo (por ejemplo, un rate limit).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Puede ser exponencial (aumenta el tiempo: 2s → 4s → 8s…).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 sobrecargar el servidor y mejora la estabilidad del scraping.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robots.txt</a:t>
            </a:r>
            <a:endParaRPr/>
          </a:p>
        </p:txBody>
      </p:sp>
      <p:sp>
        <p:nvSpPr>
          <p:cNvPr id="156" name="Google Shape;1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Archivo ubicado en la raíz de un sitio web (ej: </a:t>
            </a:r>
            <a:r>
              <a:rPr lang="es" u="sng">
                <a:solidFill>
                  <a:schemeClr val="hlink"/>
                </a:solidFill>
                <a:hlinkClick r:id="rId3"/>
              </a:rPr>
              <a:t>www.ejemplo.com/robots.txt</a:t>
            </a:r>
            <a:r>
              <a:rPr lang="es"/>
              <a:t>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Indica a los bots qué partes del sitio pueden ser rastreadas.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referencia ética y técnica; ignorarlo puede violar normas del sitio.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PII</a:t>
            </a:r>
            <a:r>
              <a:rPr lang="es" sz="2480"/>
              <a:t> </a:t>
            </a:r>
            <a:endParaRPr sz="2480"/>
          </a:p>
        </p:txBody>
      </p:sp>
      <p:sp>
        <p:nvSpPr>
          <p:cNvPr id="162" name="Google Shape;16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79"/>
              <a:t>(Personally Identifiable Information / Información Personal Identificable)</a:t>
            </a:r>
            <a:endParaRPr sz="1500"/>
          </a:p>
        </p:txBody>
      </p:sp>
      <p:sp>
        <p:nvSpPr>
          <p:cNvPr id="163" name="Google Shape;16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Datos que permiten identificar o contactar a una persona específica.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Ejemplos: nombre completo, dirección, DNI, teléfono, e‑mail, fotos del rostro.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scraping: No se deben recolectar ni almacenar PII sin base legal o consentimiento.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